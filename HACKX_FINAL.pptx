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</p:sldIdLst>
  <p:sldSz cx="9144000" cy="5143500" type="screen16x9"/>
  <p:notesSz cx="6858000" cy="9144000"/>
  <p:embeddedFontLst>
    <p:embeddedFont>
      <p:font typeface="Merriweather" panose="00000500000000000000" pitchFamily="2" charset="0"/>
      <p:regular r:id="rId12"/>
      <p:bold r:id="rId13"/>
      <p:italic r:id="rId14"/>
      <p:boldItalic r:id="rId15"/>
    </p:embeddedFont>
    <p:embeddedFont>
      <p:font typeface="Oswald" panose="00000500000000000000" pitchFamily="2" charset="0"/>
      <p:regular r:id="rId16"/>
      <p:bold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898" y="4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7c1993359a_2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g37c1993359a_2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7c1993359a_2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8" name="Google Shape;68;g37c1993359a_2_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g37c1993359a_2_8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7c1993359a_2_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0" name="Google Shape;80;g37c1993359a_2_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g37c1993359a_2_9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7c1993359a_2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92" name="Google Shape;92;g37c1993359a_2_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g37c1993359a_2_10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7c1993359a_2_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4" name="Google Shape;104;g37c1993359a_2_1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g37c1993359a_2_1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7c1993359a_2_1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16" name="Google Shape;116;g37c1993359a_2_1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g37c1993359a_2_13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7c1993359a_2_1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28" name="Google Shape;128;g37c1993359a_2_1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g37c1993359a_2_14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457200" y="-35719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457200" y="821531"/>
            <a:ext cx="8229600" cy="37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marL="914400" lvl="1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marL="1371600" lvl="2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marL="1828800" lvl="3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marL="2286000" lvl="4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marL="2743200" lvl="5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3200400" lvl="6" indent="-3175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3657600" lvl="7" indent="-3175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4114800" lvl="8" indent="-31750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457200" y="4767265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3124200" y="4767265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6553200" y="4767265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EFEFE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5FA74C6A-ECA0-B3E7-AA02-C8AA855858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0275" y="1331942"/>
            <a:ext cx="3285432" cy="3696416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0" name="Google Shape;60;p14"/>
          <p:cNvSpPr txBox="1">
            <a:spLocks noGrp="1"/>
          </p:cNvSpPr>
          <p:nvPr>
            <p:ph type="ctrTitle"/>
          </p:nvPr>
        </p:nvSpPr>
        <p:spPr>
          <a:xfrm>
            <a:off x="561369" y="2960860"/>
            <a:ext cx="5291710" cy="1397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algn="l"/>
            <a:r>
              <a:rPr lang="en-US" sz="2800" b="1" dirty="0">
                <a:solidFill>
                  <a:schemeClr val="tx1"/>
                </a:solidFill>
                <a:latin typeface="+mn-lt"/>
              </a:rPr>
              <a:t>Digital Skill Passport</a:t>
            </a:r>
            <a:br>
              <a:rPr lang="en-US" sz="2400" b="1" dirty="0">
                <a:solidFill>
                  <a:schemeClr val="tx1"/>
                </a:solidFill>
                <a:latin typeface="+mn-lt"/>
              </a:rPr>
            </a:br>
            <a:r>
              <a:rPr lang="en-US" sz="2000" b="1" dirty="0">
                <a:solidFill>
                  <a:schemeClr val="tx1"/>
                </a:solidFill>
                <a:latin typeface="+mn-lt"/>
              </a:rPr>
              <a:t>Empowering India's Blue-Collar </a:t>
            </a:r>
            <a:br>
              <a:rPr lang="en-US" sz="2000" b="1" dirty="0">
                <a:solidFill>
                  <a:schemeClr val="tx1"/>
                </a:solidFill>
                <a:latin typeface="+mn-lt"/>
              </a:rPr>
            </a:br>
            <a:r>
              <a:rPr lang="en-US" sz="2000" b="1" dirty="0">
                <a:solidFill>
                  <a:schemeClr val="tx1"/>
                </a:solidFill>
                <a:latin typeface="+mn-lt"/>
              </a:rPr>
              <a:t>Workforce</a:t>
            </a:r>
            <a:br>
              <a:rPr lang="en-US" sz="2400" b="1" dirty="0">
                <a:solidFill>
                  <a:schemeClr val="tx1"/>
                </a:solidFill>
                <a:latin typeface="+mn-lt"/>
              </a:rPr>
            </a:br>
            <a:br>
              <a:rPr lang="en-US" sz="2400" b="1" dirty="0">
                <a:solidFill>
                  <a:schemeClr val="tx1"/>
                </a:solidFill>
                <a:latin typeface="+mn-lt"/>
              </a:rPr>
            </a:br>
            <a:r>
              <a:rPr lang="en-US" sz="1200" dirty="0">
                <a:solidFill>
                  <a:schemeClr val="tx1"/>
                </a:solidFill>
                <a:latin typeface="+mn-lt"/>
              </a:rPr>
              <a:t>Team Synapse | </a:t>
            </a:r>
            <a:r>
              <a:rPr lang="en-US" sz="1200" dirty="0" err="1">
                <a:solidFill>
                  <a:schemeClr val="tx1"/>
                </a:solidFill>
                <a:latin typeface="+mn-lt"/>
              </a:rPr>
              <a:t>HackX</a:t>
            </a:r>
            <a:r>
              <a:rPr lang="en-US" sz="1200" dirty="0">
                <a:solidFill>
                  <a:schemeClr val="tx1"/>
                </a:solidFill>
                <a:latin typeface="+mn-lt"/>
              </a:rPr>
              <a:t> 2025</a:t>
            </a:r>
            <a:br>
              <a:rPr lang="en-US" sz="2400" dirty="0">
                <a:solidFill>
                  <a:schemeClr val="tx1"/>
                </a:solidFill>
                <a:latin typeface="+mn-lt"/>
              </a:rPr>
            </a:br>
            <a:br>
              <a:rPr lang="en-US" sz="2400" b="1" dirty="0">
                <a:solidFill>
                  <a:schemeClr val="tx1"/>
                </a:solidFill>
                <a:latin typeface="+mn-lt"/>
              </a:rPr>
            </a:br>
            <a:br>
              <a:rPr lang="en-US" sz="2400" b="1" dirty="0">
                <a:solidFill>
                  <a:schemeClr val="tx1"/>
                </a:solidFill>
                <a:latin typeface="+mn-lt"/>
                <a:ea typeface="Times New Roman"/>
                <a:cs typeface="Times New Roman"/>
                <a:sym typeface="Times New Roman"/>
              </a:rPr>
            </a:br>
            <a:br>
              <a:rPr lang="en-US" sz="2400" dirty="0">
                <a:solidFill>
                  <a:schemeClr val="tx1"/>
                </a:solidFill>
                <a:latin typeface="+mn-lt"/>
              </a:rPr>
            </a:br>
            <a:endParaRPr sz="2000" b="1" dirty="0">
              <a:solidFill>
                <a:schemeClr val="tx1"/>
              </a:solidFill>
              <a:latin typeface="+mn-lt"/>
              <a:ea typeface="Merriweather"/>
              <a:cs typeface="Merriweather"/>
              <a:sym typeface="Merriweather"/>
            </a:endParaRPr>
          </a:p>
        </p:txBody>
      </p:sp>
      <p:sp>
        <p:nvSpPr>
          <p:cNvPr id="62" name="Google Shape;62;p14"/>
          <p:cNvSpPr txBox="1">
            <a:spLocks noGrp="1"/>
          </p:cNvSpPr>
          <p:nvPr>
            <p:ph type="subTitle" idx="1"/>
          </p:nvPr>
        </p:nvSpPr>
        <p:spPr>
          <a:xfrm>
            <a:off x="3052478" y="360499"/>
            <a:ext cx="3029902" cy="139727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>
              <a:spcBef>
                <a:spcPts val="500"/>
              </a:spcBef>
              <a:buClr>
                <a:schemeClr val="dk1"/>
              </a:buClr>
              <a:buSzPts val="2400"/>
            </a:pPr>
            <a:r>
              <a:rPr lang="en" b="1" dirty="0">
                <a:solidFill>
                  <a:srgbClr val="E69138"/>
                </a:solidFill>
                <a:latin typeface="Merriweather"/>
                <a:ea typeface="Merriweather"/>
                <a:cs typeface="Merriweather"/>
                <a:sym typeface="Merriweather"/>
              </a:rPr>
              <a:t> HACKX 2025</a:t>
            </a:r>
            <a:endParaRPr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4" name="Google Shape;6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58110" y="261899"/>
            <a:ext cx="1457325" cy="818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4373" y="334113"/>
            <a:ext cx="1262375" cy="52980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9CF3AB5-89F9-40F5-D72F-2EEBE06E728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</a:t>
            </a:fld>
            <a:endParaRPr lang="e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BFA79FAD-690C-0B3A-6EB1-867EF9473A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9150" y="1426648"/>
            <a:ext cx="3048000" cy="30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1" name="Google Shape;71;p15"/>
          <p:cNvSpPr/>
          <p:nvPr/>
        </p:nvSpPr>
        <p:spPr>
          <a:xfrm>
            <a:off x="0" y="4767275"/>
            <a:ext cx="9144000" cy="376200"/>
          </a:xfrm>
          <a:prstGeom prst="rect">
            <a:avLst/>
          </a:prstGeom>
          <a:gradFill>
            <a:gsLst>
              <a:gs pos="0">
                <a:srgbClr val="8C8C8C"/>
              </a:gs>
              <a:gs pos="100000">
                <a:srgbClr val="404040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dist="23000" dir="5400000" rotWithShape="0">
              <a:srgbClr val="808080">
                <a:alpha val="34901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15"/>
          <p:cNvSpPr txBox="1">
            <a:spLocks noGrp="1"/>
          </p:cNvSpPr>
          <p:nvPr>
            <p:ph type="title"/>
          </p:nvPr>
        </p:nvSpPr>
        <p:spPr>
          <a:xfrm>
            <a:off x="1720412" y="625952"/>
            <a:ext cx="5703176" cy="5080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 fontScale="90000"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Digital Skill Passport</a:t>
            </a:r>
            <a:br>
              <a:rPr lang="en-US" b="1" dirty="0">
                <a:solidFill>
                  <a:schemeClr val="tx1"/>
                </a:solidFill>
              </a:rPr>
            </a:br>
            <a:r>
              <a:rPr lang="en-US" sz="1800" b="1" dirty="0">
                <a:solidFill>
                  <a:schemeClr val="tx1"/>
                </a:solidFill>
              </a:rPr>
              <a:t>Empowering Blue-Collar Workers </a:t>
            </a:r>
            <a:br>
              <a:rPr lang="en-US" sz="1800" b="1" dirty="0">
                <a:solidFill>
                  <a:schemeClr val="tx1"/>
                </a:solidFill>
              </a:rPr>
            </a:br>
            <a:r>
              <a:rPr lang="en-US" sz="1800" b="1" dirty="0">
                <a:solidFill>
                  <a:schemeClr val="tx1"/>
                </a:solidFill>
              </a:rPr>
              <a:t>with Verified Digital Identity</a:t>
            </a:r>
            <a:br>
              <a:rPr lang="en-US" b="1" dirty="0">
                <a:solidFill>
                  <a:schemeClr val="tx1"/>
                </a:solidFill>
              </a:rPr>
            </a:b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3" name="Google Shape;73;p15"/>
          <p:cNvSpPr txBox="1"/>
          <p:nvPr/>
        </p:nvSpPr>
        <p:spPr>
          <a:xfrm>
            <a:off x="267048" y="1743640"/>
            <a:ext cx="5342871" cy="3762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 groundbreaking platform that brings India's </a:t>
            </a:r>
            <a:r>
              <a:rPr lang="en-US" sz="1600" dirty="0" err="1">
                <a:solidFill>
                  <a:schemeClr val="tx1"/>
                </a:solidFill>
              </a:rPr>
              <a:t>unorganised</a:t>
            </a:r>
            <a:r>
              <a:rPr lang="en-US" sz="1600" dirty="0">
                <a:solidFill>
                  <a:schemeClr val="tx1"/>
                </a:solidFill>
              </a:rPr>
              <a:t> workforce into the digital economy. By creating verified digital skill profiles accessible through simple QR codes, we're bridging the trust gap between workers and employers.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endParaRPr lang="en-US" altLang="en-US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Digital Skill Passport builds </a:t>
            </a:r>
            <a:r>
              <a:rPr lang="en-US" altLang="en-US" sz="1600" b="1" dirty="0">
                <a:solidFill>
                  <a:schemeClr val="tx1"/>
                </a:solidFill>
                <a:latin typeface="Arial" panose="020B0604020202020204" pitchFamily="34" charset="0"/>
              </a:rPr>
              <a:t>verified digital identities</a:t>
            </a: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 for workers.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Enables </a:t>
            </a:r>
            <a:r>
              <a:rPr lang="en-US" altLang="en-US" sz="1600" b="1" dirty="0">
                <a:solidFill>
                  <a:schemeClr val="tx1"/>
                </a:solidFill>
                <a:latin typeface="Arial" panose="020B0604020202020204" pitchFamily="34" charset="0"/>
              </a:rPr>
              <a:t>QR-based authentication</a:t>
            </a: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 and </a:t>
            </a:r>
            <a:r>
              <a:rPr lang="en-US" altLang="en-US" sz="1600" b="1" dirty="0">
                <a:solidFill>
                  <a:schemeClr val="tx1"/>
                </a:solidFill>
                <a:latin typeface="Arial" panose="020B0604020202020204" pitchFamily="34" charset="0"/>
              </a:rPr>
              <a:t>fair hiring</a:t>
            </a: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</a:p>
          <a:p>
            <a:pPr marL="7429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tx1"/>
              </a:solidFill>
            </a:endParaRPr>
          </a:p>
          <a:p>
            <a:pPr marL="742950" marR="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tx1"/>
              </a:solidFill>
            </a:endParaRPr>
          </a:p>
          <a:p>
            <a:pPr marL="742950" marR="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tx1"/>
              </a:solidFill>
            </a:endParaRPr>
          </a:p>
          <a:p>
            <a:pPr marL="742950" marR="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tx1"/>
              </a:solidFill>
            </a:endParaRPr>
          </a:p>
          <a:p>
            <a:pPr marL="742950" marR="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tx1"/>
              </a:solidFill>
            </a:endParaRPr>
          </a:p>
          <a:p>
            <a:pPr marL="742950" marR="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tx1"/>
              </a:solidFill>
            </a:endParaRPr>
          </a:p>
        </p:txBody>
      </p:sp>
      <p:pic>
        <p:nvPicPr>
          <p:cNvPr id="77" name="Google Shape;77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20000" y="147341"/>
            <a:ext cx="1377425" cy="61967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76;p15" descr="Your startup LOGO">
            <a:extLst>
              <a:ext uri="{FF2B5EF4-FFF2-40B4-BE49-F238E27FC236}">
                <a16:creationId xmlns:a16="http://schemas.microsoft.com/office/drawing/2014/main" id="{A2626864-9D4B-07B1-A56A-0CD58B0D8BF6}"/>
              </a:ext>
            </a:extLst>
          </p:cNvPr>
          <p:cNvSpPr/>
          <p:nvPr/>
        </p:nvSpPr>
        <p:spPr>
          <a:xfrm>
            <a:off x="267048" y="260321"/>
            <a:ext cx="1191326" cy="619675"/>
          </a:xfrm>
          <a:prstGeom prst="ellipse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Synapase</a:t>
            </a: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FF49BC-A6E9-D142-5F7B-023E0A545A1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</a:t>
            </a:fld>
            <a:endParaRPr lang="e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6"/>
          <p:cNvSpPr txBox="1">
            <a:spLocks noGrp="1"/>
          </p:cNvSpPr>
          <p:nvPr>
            <p:ph type="title"/>
          </p:nvPr>
        </p:nvSpPr>
        <p:spPr>
          <a:xfrm>
            <a:off x="480826" y="384850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 fontScale="90000"/>
          </a:bodyPr>
          <a:lstStyle/>
          <a:p>
            <a:r>
              <a:rPr lang="en-US" b="1" dirty="0"/>
              <a:t>Project Overview</a:t>
            </a:r>
            <a:br>
              <a:rPr lang="en-US" b="1" dirty="0"/>
            </a:br>
            <a:endParaRPr dirty="0"/>
          </a:p>
        </p:txBody>
      </p:sp>
      <p:sp>
        <p:nvSpPr>
          <p:cNvPr id="84" name="Google Shape;84;p16"/>
          <p:cNvSpPr txBox="1"/>
          <p:nvPr/>
        </p:nvSpPr>
        <p:spPr>
          <a:xfrm>
            <a:off x="316500" y="854283"/>
            <a:ext cx="8229600" cy="777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endParaRPr lang="en-US" sz="2400" b="1" dirty="0"/>
          </a:p>
          <a:p>
            <a:pPr marL="45720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200" dirty="0">
              <a:solidFill>
                <a:schemeClr val="dk1"/>
              </a:solidFill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80477" y="228785"/>
            <a:ext cx="1377425" cy="61967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6"/>
          <p:cNvSpPr/>
          <p:nvPr/>
        </p:nvSpPr>
        <p:spPr>
          <a:xfrm>
            <a:off x="0" y="4767275"/>
            <a:ext cx="9144000" cy="376200"/>
          </a:xfrm>
          <a:prstGeom prst="rect">
            <a:avLst/>
          </a:prstGeom>
          <a:gradFill>
            <a:gsLst>
              <a:gs pos="0">
                <a:srgbClr val="8C8C8C"/>
              </a:gs>
              <a:gs pos="100000">
                <a:srgbClr val="404040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dist="23000" dir="5400000" rotWithShape="0">
              <a:srgbClr val="808080">
                <a:alpha val="349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Oswald"/>
              <a:buNone/>
            </a:pPr>
            <a:endParaRPr sz="900" dirty="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4" name="Google Shape;76;p15" descr="Your startup LOGO">
            <a:extLst>
              <a:ext uri="{FF2B5EF4-FFF2-40B4-BE49-F238E27FC236}">
                <a16:creationId xmlns:a16="http://schemas.microsoft.com/office/drawing/2014/main" id="{57713018-ADF6-9BD7-4A84-58953E116F43}"/>
              </a:ext>
            </a:extLst>
          </p:cNvPr>
          <p:cNvSpPr/>
          <p:nvPr/>
        </p:nvSpPr>
        <p:spPr>
          <a:xfrm>
            <a:off x="233350" y="274112"/>
            <a:ext cx="1191326" cy="619675"/>
          </a:xfrm>
          <a:prstGeom prst="ellipse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Synapase</a:t>
            </a: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53C6A18-1857-8965-7442-93799EB66721}"/>
              </a:ext>
            </a:extLst>
          </p:cNvPr>
          <p:cNvSpPr/>
          <p:nvPr/>
        </p:nvSpPr>
        <p:spPr>
          <a:xfrm>
            <a:off x="152173" y="1291664"/>
            <a:ext cx="2910244" cy="1996428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500M+ Workers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India's blue-collar workforce powers the economy but remains digitally invisible in formal systems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55EC13B-7844-0AC5-0E8A-373AC45DEC14}"/>
              </a:ext>
            </a:extLst>
          </p:cNvPr>
          <p:cNvSpPr/>
          <p:nvPr/>
        </p:nvSpPr>
        <p:spPr>
          <a:xfrm>
            <a:off x="3226744" y="1320788"/>
            <a:ext cx="2854842" cy="1967304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sz="1800" b="1" dirty="0"/>
          </a:p>
          <a:p>
            <a:r>
              <a:rPr lang="en-US" sz="1800" b="1" dirty="0"/>
              <a:t>Trust &amp; Transparency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Promotes fair employment practices through verified credentials and transparent feedback systems</a:t>
            </a:r>
          </a:p>
          <a:p>
            <a:endParaRPr lang="en-US" sz="18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755F49E-2C52-CA9D-A61A-4E77C72C67F1}"/>
              </a:ext>
            </a:extLst>
          </p:cNvPr>
          <p:cNvSpPr/>
          <p:nvPr/>
        </p:nvSpPr>
        <p:spPr>
          <a:xfrm>
            <a:off x="152174" y="3478791"/>
            <a:ext cx="5929412" cy="970601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800" b="1" dirty="0"/>
              <a:t>Smart QR Access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Enables instant access to authentic skill data via secure QR scans</a:t>
            </a:r>
          </a:p>
        </p:txBody>
      </p:sp>
      <p:pic>
        <p:nvPicPr>
          <p:cNvPr id="7171" name="Picture 3">
            <a:extLst>
              <a:ext uri="{FF2B5EF4-FFF2-40B4-BE49-F238E27FC236}">
                <a16:creationId xmlns:a16="http://schemas.microsoft.com/office/drawing/2014/main" id="{ED502EA0-B354-7038-B075-302E4D23ED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6329" y="1317893"/>
            <a:ext cx="2368296" cy="31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44BE5AC-5FB9-C29E-EB98-FA445AA449D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</a:t>
            </a:fld>
            <a:endParaRPr lang="e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8CBC0954-D802-847F-7592-10C607B5D0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1272" y="1524883"/>
            <a:ext cx="2705528" cy="2785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5" name="Google Shape;95;p17"/>
          <p:cNvSpPr/>
          <p:nvPr/>
        </p:nvSpPr>
        <p:spPr>
          <a:xfrm>
            <a:off x="0" y="4766072"/>
            <a:ext cx="9143999" cy="377429"/>
          </a:xfrm>
          <a:prstGeom prst="rect">
            <a:avLst/>
          </a:prstGeom>
          <a:gradFill>
            <a:gsLst>
              <a:gs pos="0">
                <a:srgbClr val="8C8C8C"/>
              </a:gs>
              <a:gs pos="100000">
                <a:srgbClr val="404040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dist="23000" dir="5400000" rotWithShape="0">
              <a:srgbClr val="808080">
                <a:alpha val="34901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7"/>
          <p:cNvSpPr txBox="1">
            <a:spLocks noGrp="1"/>
          </p:cNvSpPr>
          <p:nvPr>
            <p:ph type="title"/>
          </p:nvPr>
        </p:nvSpPr>
        <p:spPr>
          <a:xfrm>
            <a:off x="2103120" y="435190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 fontScale="90000"/>
          </a:bodyPr>
          <a:lstStyle/>
          <a:p>
            <a:pPr algn="l"/>
            <a:r>
              <a:rPr lang="en-US" b="1" dirty="0"/>
              <a:t>The Problem We're Solving</a:t>
            </a:r>
            <a:br>
              <a:rPr lang="en-US" b="1" dirty="0"/>
            </a:br>
            <a:endParaRPr dirty="0"/>
          </a:p>
        </p:txBody>
      </p:sp>
      <p:sp>
        <p:nvSpPr>
          <p:cNvPr id="97" name="Google Shape;97;p17"/>
          <p:cNvSpPr txBox="1"/>
          <p:nvPr/>
        </p:nvSpPr>
        <p:spPr>
          <a:xfrm>
            <a:off x="457200" y="1900240"/>
            <a:ext cx="7038900" cy="392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100" dirty="0"/>
          </a:p>
        </p:txBody>
      </p:sp>
      <p:pic>
        <p:nvPicPr>
          <p:cNvPr id="101" name="Google Shape;101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96100" y="312361"/>
            <a:ext cx="1377425" cy="6196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78A7C71-5349-D257-405F-DFCB2005641E}"/>
              </a:ext>
            </a:extLst>
          </p:cNvPr>
          <p:cNvSpPr txBox="1"/>
          <p:nvPr/>
        </p:nvSpPr>
        <p:spPr>
          <a:xfrm>
            <a:off x="254080" y="1403217"/>
            <a:ext cx="531688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/>
              <a:t>No Verified Records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Workers have no </a:t>
            </a:r>
            <a:r>
              <a:rPr lang="en-US" sz="1600" dirty="0" err="1"/>
              <a:t>standardised</a:t>
            </a:r>
            <a:r>
              <a:rPr lang="en-US" sz="1600" dirty="0"/>
              <a:t> way to prove their skills, experience, or employment history to potential employers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FD404F-BA6A-EFBF-EE2F-FBBA21C6B13E}"/>
              </a:ext>
            </a:extLst>
          </p:cNvPr>
          <p:cNvSpPr txBox="1"/>
          <p:nvPr/>
        </p:nvSpPr>
        <p:spPr>
          <a:xfrm>
            <a:off x="254080" y="2452130"/>
            <a:ext cx="531688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Verbal Proof System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Hiring decisions rely on word-of-mouth recommendations, leading to bias, fraud, and skill-job mismatches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70B0EF-55A4-574C-87A2-FE951EAB47B6}"/>
              </a:ext>
            </a:extLst>
          </p:cNvPr>
          <p:cNvSpPr txBox="1"/>
          <p:nvPr/>
        </p:nvSpPr>
        <p:spPr>
          <a:xfrm>
            <a:off x="265096" y="3501043"/>
            <a:ext cx="538512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Digital Invisibility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80% of India's informal sector workers lack any form of digital skill recognition or professional identity</a:t>
            </a:r>
          </a:p>
          <a:p>
            <a:endParaRPr lang="en-US" sz="1600" dirty="0"/>
          </a:p>
        </p:txBody>
      </p:sp>
      <p:sp>
        <p:nvSpPr>
          <p:cNvPr id="9" name="Google Shape;76;p15" descr="Your startup LOGO">
            <a:extLst>
              <a:ext uri="{FF2B5EF4-FFF2-40B4-BE49-F238E27FC236}">
                <a16:creationId xmlns:a16="http://schemas.microsoft.com/office/drawing/2014/main" id="{1F622456-A37C-7F6D-80F5-9679B053346B}"/>
              </a:ext>
            </a:extLst>
          </p:cNvPr>
          <p:cNvSpPr/>
          <p:nvPr/>
        </p:nvSpPr>
        <p:spPr>
          <a:xfrm>
            <a:off x="254080" y="394091"/>
            <a:ext cx="1191326" cy="619675"/>
          </a:xfrm>
          <a:prstGeom prst="ellipse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Synapase</a:t>
            </a: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F9A9F0B-1BF9-AAD3-4A14-744A69A586A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4</a:t>
            </a:fld>
            <a:endParaRPr lang="e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8"/>
          <p:cNvSpPr/>
          <p:nvPr/>
        </p:nvSpPr>
        <p:spPr>
          <a:xfrm>
            <a:off x="0" y="4766072"/>
            <a:ext cx="9144000" cy="377400"/>
          </a:xfrm>
          <a:prstGeom prst="rect">
            <a:avLst/>
          </a:prstGeom>
          <a:gradFill>
            <a:gsLst>
              <a:gs pos="0">
                <a:srgbClr val="8C8C8C"/>
              </a:gs>
              <a:gs pos="100000">
                <a:srgbClr val="404040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dist="23000" dir="5400000" rotWithShape="0">
              <a:srgbClr val="808080">
                <a:alpha val="349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8"/>
          <p:cNvSpPr txBox="1">
            <a:spLocks noGrp="1"/>
          </p:cNvSpPr>
          <p:nvPr>
            <p:ph type="title"/>
          </p:nvPr>
        </p:nvSpPr>
        <p:spPr>
          <a:xfrm>
            <a:off x="359664" y="375715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 fontScale="90000"/>
          </a:bodyPr>
          <a:lstStyle/>
          <a:p>
            <a:r>
              <a:rPr lang="en-US" b="1" dirty="0"/>
              <a:t>Our Solution</a:t>
            </a:r>
            <a:br>
              <a:rPr lang="en-US" b="1" dirty="0"/>
            </a:br>
            <a:endParaRPr dirty="0"/>
          </a:p>
        </p:txBody>
      </p:sp>
      <p:sp>
        <p:nvSpPr>
          <p:cNvPr id="109" name="Google Shape;109;p18"/>
          <p:cNvSpPr txBox="1"/>
          <p:nvPr/>
        </p:nvSpPr>
        <p:spPr>
          <a:xfrm>
            <a:off x="446262" y="1232965"/>
            <a:ext cx="4760976" cy="33932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r>
              <a:rPr lang="en-US" sz="1800" b="1" dirty="0"/>
              <a:t> Verified Worker Identities</a:t>
            </a: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Digital profiles with trusted authentication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Connects workers &amp; employers seamlessly</a:t>
            </a:r>
          </a:p>
          <a:p>
            <a:r>
              <a:rPr lang="en-US" sz="1800" b="1" dirty="0"/>
              <a:t>Real-Time Communication</a:t>
            </a: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In-app chat for clear job discussions</a:t>
            </a:r>
          </a:p>
          <a:p>
            <a:r>
              <a:rPr lang="en-US" sz="1800" b="1" dirty="0"/>
              <a:t>QR-Based Skill Passport</a:t>
            </a: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Instant skill &amp; identity verification</a:t>
            </a:r>
          </a:p>
          <a:p>
            <a:r>
              <a:rPr lang="en-US" sz="1800" b="1" dirty="0"/>
              <a:t>Rating &amp; Feedback System</a:t>
            </a: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Transparent reviews build trust &amp; credibility</a:t>
            </a: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/>
          </a:p>
        </p:txBody>
      </p:sp>
      <p:pic>
        <p:nvPicPr>
          <p:cNvPr id="113" name="Google Shape;11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0000" y="184665"/>
            <a:ext cx="1377425" cy="619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98" name="Picture 2">
            <a:extLst>
              <a:ext uri="{FF2B5EF4-FFF2-40B4-BE49-F238E27FC236}">
                <a16:creationId xmlns:a16="http://schemas.microsoft.com/office/drawing/2014/main" id="{B648F47A-8D82-FC59-455F-96A280998D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5399" y="1185663"/>
            <a:ext cx="3263785" cy="32637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Google Shape;76;p15" descr="Your startup LOGO">
            <a:extLst>
              <a:ext uri="{FF2B5EF4-FFF2-40B4-BE49-F238E27FC236}">
                <a16:creationId xmlns:a16="http://schemas.microsoft.com/office/drawing/2014/main" id="{45FECDD7-B1F4-0B62-0F15-0471A8EA34A5}"/>
              </a:ext>
            </a:extLst>
          </p:cNvPr>
          <p:cNvSpPr/>
          <p:nvPr/>
        </p:nvSpPr>
        <p:spPr>
          <a:xfrm>
            <a:off x="252624" y="252331"/>
            <a:ext cx="1191326" cy="619675"/>
          </a:xfrm>
          <a:prstGeom prst="ellipse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Synapase</a:t>
            </a: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FF78EC-31F5-B4F7-6D47-916FD30615F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5</a:t>
            </a:fld>
            <a:endParaRPr lang="e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9"/>
          <p:cNvSpPr/>
          <p:nvPr/>
        </p:nvSpPr>
        <p:spPr>
          <a:xfrm>
            <a:off x="0" y="4766072"/>
            <a:ext cx="9143999" cy="377429"/>
          </a:xfrm>
          <a:prstGeom prst="rect">
            <a:avLst/>
          </a:prstGeom>
          <a:gradFill>
            <a:gsLst>
              <a:gs pos="0">
                <a:srgbClr val="8C8C8C"/>
              </a:gs>
              <a:gs pos="100000">
                <a:srgbClr val="404040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dist="23000" dir="5400000" rotWithShape="0">
              <a:srgbClr val="808080">
                <a:alpha val="34901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9"/>
          <p:cNvSpPr txBox="1">
            <a:spLocks noGrp="1"/>
          </p:cNvSpPr>
          <p:nvPr>
            <p:ph type="title"/>
          </p:nvPr>
        </p:nvSpPr>
        <p:spPr>
          <a:xfrm>
            <a:off x="429863" y="274112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 fontScale="90000"/>
          </a:bodyPr>
          <a:lstStyle/>
          <a:p>
            <a:r>
              <a:rPr lang="en-US" b="1" dirty="0"/>
              <a:t>How It Works</a:t>
            </a:r>
            <a:br>
              <a:rPr lang="en-US" b="1" dirty="0"/>
            </a:br>
            <a:endParaRPr dirty="0"/>
          </a:p>
        </p:txBody>
      </p:sp>
      <p:pic>
        <p:nvPicPr>
          <p:cNvPr id="125" name="Google Shape;12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38423" y="108279"/>
            <a:ext cx="1377425" cy="6196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76;p15" descr="Your startup LOGO">
            <a:extLst>
              <a:ext uri="{FF2B5EF4-FFF2-40B4-BE49-F238E27FC236}">
                <a16:creationId xmlns:a16="http://schemas.microsoft.com/office/drawing/2014/main" id="{0B97EE66-4ED7-613E-ADDE-AA78B10235A9}"/>
              </a:ext>
            </a:extLst>
          </p:cNvPr>
          <p:cNvSpPr/>
          <p:nvPr/>
        </p:nvSpPr>
        <p:spPr>
          <a:xfrm>
            <a:off x="259576" y="274112"/>
            <a:ext cx="1191326" cy="619675"/>
          </a:xfrm>
          <a:prstGeom prst="ellipse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Synapase</a:t>
            </a: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19FFAD2-1489-F2FC-9057-508AC7B3205E}"/>
              </a:ext>
            </a:extLst>
          </p:cNvPr>
          <p:cNvSpPr/>
          <p:nvPr/>
        </p:nvSpPr>
        <p:spPr>
          <a:xfrm>
            <a:off x="1236589" y="1188289"/>
            <a:ext cx="6590675" cy="60268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Step 1: Register via OTP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Workers register using mobile OTP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77D9719-98D4-B546-4694-4FF2B951E0DE}"/>
              </a:ext>
            </a:extLst>
          </p:cNvPr>
          <p:cNvSpPr/>
          <p:nvPr/>
        </p:nvSpPr>
        <p:spPr>
          <a:xfrm>
            <a:off x="1236586" y="1911861"/>
            <a:ext cx="6590675" cy="60268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Step 2: Admin Verification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Admin validates worker credentials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97B1771-672F-A600-50CE-6908F52DB377}"/>
              </a:ext>
            </a:extLst>
          </p:cNvPr>
          <p:cNvSpPr/>
          <p:nvPr/>
        </p:nvSpPr>
        <p:spPr>
          <a:xfrm>
            <a:off x="1236588" y="2616613"/>
            <a:ext cx="6590675" cy="58906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Step 3: Skill Passport Created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QR-based digital identity generated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9643256-6858-92FF-A7F8-22DD0B541487}"/>
              </a:ext>
            </a:extLst>
          </p:cNvPr>
          <p:cNvSpPr/>
          <p:nvPr/>
        </p:nvSpPr>
        <p:spPr>
          <a:xfrm>
            <a:off x="1236587" y="4065532"/>
            <a:ext cx="6590674" cy="60268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Step 5: Feedback Update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Ratings auto-update worker profiles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720BA4C-EC1C-FB42-1302-35B904FD17C2}"/>
              </a:ext>
            </a:extLst>
          </p:cNvPr>
          <p:cNvSpPr/>
          <p:nvPr/>
        </p:nvSpPr>
        <p:spPr>
          <a:xfrm>
            <a:off x="1236587" y="3344456"/>
            <a:ext cx="6590675" cy="60268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Step 4: Employer Verification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Employer scans QR to view the worker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267B172-5B8A-2E3A-D155-1830429610A7}"/>
              </a:ext>
            </a:extLst>
          </p:cNvPr>
          <p:cNvCxnSpPr>
            <a:cxnSpLocks/>
          </p:cNvCxnSpPr>
          <p:nvPr/>
        </p:nvCxnSpPr>
        <p:spPr>
          <a:xfrm>
            <a:off x="7144512" y="1548384"/>
            <a:ext cx="0" cy="47548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7CDE62C-170C-5EC6-AACA-5B3FFBEB8C69}"/>
              </a:ext>
            </a:extLst>
          </p:cNvPr>
          <p:cNvCxnSpPr>
            <a:cxnSpLocks/>
          </p:cNvCxnSpPr>
          <p:nvPr/>
        </p:nvCxnSpPr>
        <p:spPr>
          <a:xfrm>
            <a:off x="7150608" y="2252740"/>
            <a:ext cx="0" cy="47548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C5F97CC-53F7-EBAF-3EB9-D1AA2018E394}"/>
              </a:ext>
            </a:extLst>
          </p:cNvPr>
          <p:cNvCxnSpPr>
            <a:cxnSpLocks/>
          </p:cNvCxnSpPr>
          <p:nvPr/>
        </p:nvCxnSpPr>
        <p:spPr>
          <a:xfrm>
            <a:off x="7162800" y="2991500"/>
            <a:ext cx="0" cy="47548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987C098-3BC2-2FB5-F8CD-B96045633412}"/>
              </a:ext>
            </a:extLst>
          </p:cNvPr>
          <p:cNvCxnSpPr>
            <a:cxnSpLocks/>
          </p:cNvCxnSpPr>
          <p:nvPr/>
        </p:nvCxnSpPr>
        <p:spPr>
          <a:xfrm>
            <a:off x="7181088" y="3709399"/>
            <a:ext cx="0" cy="47548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49EDDEC-2015-5C51-5BDF-C5A2EB67625C}"/>
              </a:ext>
            </a:extLst>
          </p:cNvPr>
          <p:cNvCxnSpPr>
            <a:cxnSpLocks/>
          </p:cNvCxnSpPr>
          <p:nvPr/>
        </p:nvCxnSpPr>
        <p:spPr>
          <a:xfrm>
            <a:off x="2017776" y="1588560"/>
            <a:ext cx="0" cy="47548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9D170F9-48EF-3A7F-E29C-C6AC45EC7422}"/>
              </a:ext>
            </a:extLst>
          </p:cNvPr>
          <p:cNvCxnSpPr>
            <a:cxnSpLocks/>
          </p:cNvCxnSpPr>
          <p:nvPr/>
        </p:nvCxnSpPr>
        <p:spPr>
          <a:xfrm>
            <a:off x="2017776" y="3733852"/>
            <a:ext cx="0" cy="47548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612FC1C-6204-50AF-EC4E-79C97A66E897}"/>
              </a:ext>
            </a:extLst>
          </p:cNvPr>
          <p:cNvCxnSpPr>
            <a:cxnSpLocks/>
          </p:cNvCxnSpPr>
          <p:nvPr/>
        </p:nvCxnSpPr>
        <p:spPr>
          <a:xfrm>
            <a:off x="2017776" y="2991500"/>
            <a:ext cx="0" cy="47548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B3EB4CE-588F-0956-DE07-CDAE4BA39285}"/>
              </a:ext>
            </a:extLst>
          </p:cNvPr>
          <p:cNvCxnSpPr>
            <a:cxnSpLocks/>
          </p:cNvCxnSpPr>
          <p:nvPr/>
        </p:nvCxnSpPr>
        <p:spPr>
          <a:xfrm>
            <a:off x="2017776" y="2341684"/>
            <a:ext cx="0" cy="47548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6D7B7EC4-1432-8AD4-D78E-F1CFD1794A9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6</a:t>
            </a:fld>
            <a:endParaRPr lang="e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0"/>
          <p:cNvSpPr/>
          <p:nvPr/>
        </p:nvSpPr>
        <p:spPr>
          <a:xfrm>
            <a:off x="0" y="4766072"/>
            <a:ext cx="9143999" cy="377429"/>
          </a:xfrm>
          <a:prstGeom prst="rect">
            <a:avLst/>
          </a:prstGeom>
          <a:gradFill>
            <a:gsLst>
              <a:gs pos="0">
                <a:srgbClr val="8C8C8C"/>
              </a:gs>
              <a:gs pos="100000">
                <a:srgbClr val="404040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dist="23000" dir="5400000" rotWithShape="0">
              <a:srgbClr val="808080">
                <a:alpha val="34901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lang="en-US" sz="1400" b="0" i="0" u="none" strike="noStrike" cap="none" dirty="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20"/>
          <p:cNvSpPr txBox="1"/>
          <p:nvPr/>
        </p:nvSpPr>
        <p:spPr>
          <a:xfrm>
            <a:off x="233350" y="1222049"/>
            <a:ext cx="8866099" cy="19966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r>
              <a:rPr lang="en-US" b="1" dirty="0"/>
              <a:t>Tech Stack</a:t>
            </a:r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Key Features</a:t>
            </a:r>
          </a:p>
          <a:p>
            <a:pPr marL="685800" marR="0" lvl="1" indent="-241300" algn="just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lang="en-US" dirty="0"/>
          </a:p>
          <a:p>
            <a:r>
              <a:rPr lang="en-US" b="1" dirty="0"/>
              <a:t>Dynamic QR Codes:</a:t>
            </a:r>
            <a:r>
              <a:rPr lang="en-US" dirty="0"/>
              <a:t> Unique identifiers for each worker profile</a:t>
            </a:r>
          </a:p>
          <a:p>
            <a:r>
              <a:rPr lang="en-US" b="1" dirty="0"/>
              <a:t>Real-time </a:t>
            </a:r>
            <a:r>
              <a:rPr lang="en-US" b="1" dirty="0" err="1"/>
              <a:t>Synchronisation</a:t>
            </a:r>
            <a:r>
              <a:rPr lang="en-US" b="1" dirty="0"/>
              <a:t>:</a:t>
            </a:r>
            <a:r>
              <a:rPr lang="en-US" dirty="0"/>
              <a:t> Instant updates across all devices</a:t>
            </a:r>
          </a:p>
          <a:p>
            <a:r>
              <a:rPr lang="en-US" b="1" dirty="0"/>
              <a:t>Intuitive Interface:</a:t>
            </a:r>
            <a:r>
              <a:rPr lang="en-US" dirty="0"/>
              <a:t> Simple, accessible design for low-digital-literacy users</a:t>
            </a:r>
          </a:p>
          <a:p>
            <a:pPr marL="685800" marR="0" lvl="1" indent="-241300" algn="just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1" i="0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20"/>
          <p:cNvSpPr txBox="1"/>
          <p:nvPr/>
        </p:nvSpPr>
        <p:spPr>
          <a:xfrm>
            <a:off x="1458775" y="322700"/>
            <a:ext cx="6307800" cy="9156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algn="ctr"/>
            <a:r>
              <a:rPr lang="en-US" sz="2800" b="1" dirty="0"/>
              <a:t>Technical Implementation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7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6" name="Google Shape;13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33225" y="220308"/>
            <a:ext cx="1377425" cy="619675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5122" name="Picture 2">
            <a:extLst>
              <a:ext uri="{FF2B5EF4-FFF2-40B4-BE49-F238E27FC236}">
                <a16:creationId xmlns:a16="http://schemas.microsoft.com/office/drawing/2014/main" id="{1F093F4B-629B-AD44-E667-6A8B72CB20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7555" y="1940558"/>
            <a:ext cx="2153095" cy="2153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Google Shape;76;p15" descr="Your startup LOGO">
            <a:extLst>
              <a:ext uri="{FF2B5EF4-FFF2-40B4-BE49-F238E27FC236}">
                <a16:creationId xmlns:a16="http://schemas.microsoft.com/office/drawing/2014/main" id="{C2DCDC9F-29FA-CB33-D37F-A93CFED8DEC1}"/>
              </a:ext>
            </a:extLst>
          </p:cNvPr>
          <p:cNvSpPr/>
          <p:nvPr/>
        </p:nvSpPr>
        <p:spPr>
          <a:xfrm>
            <a:off x="233350" y="274112"/>
            <a:ext cx="1191326" cy="619675"/>
          </a:xfrm>
          <a:prstGeom prst="ellipse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Synapase</a:t>
            </a: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29968CB-BDA9-9587-63A2-22B8DFD38384}"/>
              </a:ext>
            </a:extLst>
          </p:cNvPr>
          <p:cNvSpPr/>
          <p:nvPr/>
        </p:nvSpPr>
        <p:spPr>
          <a:xfrm>
            <a:off x="331851" y="1560736"/>
            <a:ext cx="3035808" cy="60268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b="1" dirty="0">
              <a:solidFill>
                <a:schemeClr val="tx1"/>
              </a:solidFill>
            </a:endParaRPr>
          </a:p>
          <a:p>
            <a:r>
              <a:rPr lang="en-US" b="1" dirty="0">
                <a:solidFill>
                  <a:schemeClr val="tx1"/>
                </a:solidFill>
              </a:rPr>
              <a:t>Frontend</a:t>
            </a:r>
          </a:p>
          <a:p>
            <a:r>
              <a:rPr lang="en-US" dirty="0">
                <a:solidFill>
                  <a:schemeClr val="tx1"/>
                </a:solidFill>
              </a:rPr>
              <a:t>React.js for responsive, modern UI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9C1628B-AAEE-2A22-8E35-6AF14C58C553}"/>
              </a:ext>
            </a:extLst>
          </p:cNvPr>
          <p:cNvSpPr/>
          <p:nvPr/>
        </p:nvSpPr>
        <p:spPr>
          <a:xfrm>
            <a:off x="331851" y="2298191"/>
            <a:ext cx="3035808" cy="60268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b="1" dirty="0">
              <a:solidFill>
                <a:schemeClr val="tx1"/>
              </a:solidFill>
            </a:endParaRPr>
          </a:p>
          <a:p>
            <a:r>
              <a:rPr lang="en-US" b="1" dirty="0">
                <a:solidFill>
                  <a:schemeClr val="tx1"/>
                </a:solidFill>
              </a:rPr>
              <a:t>Backend</a:t>
            </a:r>
          </a:p>
          <a:p>
            <a:r>
              <a:rPr lang="en-US" dirty="0">
                <a:solidFill>
                  <a:schemeClr val="tx1"/>
                </a:solidFill>
              </a:rPr>
              <a:t>Node.js, Express.js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AD3F4A3-1361-8752-E271-A0030FD11C49}"/>
              </a:ext>
            </a:extLst>
          </p:cNvPr>
          <p:cNvSpPr/>
          <p:nvPr/>
        </p:nvSpPr>
        <p:spPr>
          <a:xfrm>
            <a:off x="3484619" y="1564791"/>
            <a:ext cx="3035808" cy="60268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Database</a:t>
            </a:r>
          </a:p>
          <a:p>
            <a:r>
              <a:rPr lang="en-US" dirty="0">
                <a:solidFill>
                  <a:schemeClr val="tx1"/>
                </a:solidFill>
              </a:rPr>
              <a:t>MongoDB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CEFB128-FD91-BCFC-2B88-43E281F470C8}"/>
              </a:ext>
            </a:extLst>
          </p:cNvPr>
          <p:cNvSpPr/>
          <p:nvPr/>
        </p:nvSpPr>
        <p:spPr>
          <a:xfrm>
            <a:off x="3484619" y="2309264"/>
            <a:ext cx="3035808" cy="60268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Deployment</a:t>
            </a:r>
          </a:p>
          <a:p>
            <a:r>
              <a:rPr lang="en-US" dirty="0" err="1">
                <a:solidFill>
                  <a:schemeClr val="tx1"/>
                </a:solidFill>
              </a:rPr>
              <a:t>Vercel</a:t>
            </a:r>
            <a:r>
              <a:rPr lang="en-US" dirty="0">
                <a:solidFill>
                  <a:schemeClr val="tx1"/>
                </a:solidFill>
              </a:rPr>
              <a:t> for fast, reliable hosting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9EA582-E011-2877-5A2D-FD65B06A512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7</a:t>
            </a:fld>
            <a:endParaRPr lang="e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6EEED-DE90-CACF-1D31-31C0C16CE3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5444" y="274112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Impact &amp; Results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B04F40-2776-9429-963F-D248F6B844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5991564" cy="3309797"/>
          </a:xfrm>
        </p:spPr>
        <p:txBody>
          <a:bodyPr>
            <a:normAutofit fontScale="92500" lnSpcReduction="20000"/>
          </a:bodyPr>
          <a:lstStyle/>
          <a:p>
            <a:pPr marL="114300" indent="0">
              <a:buNone/>
            </a:pPr>
            <a:r>
              <a:rPr lang="en-US" b="1" dirty="0">
                <a:solidFill>
                  <a:schemeClr val="tx1"/>
                </a:solidFill>
              </a:rPr>
              <a:t>Faster Hiring</a:t>
            </a:r>
          </a:p>
          <a:p>
            <a:r>
              <a:rPr lang="en-US" dirty="0">
                <a:solidFill>
                  <a:schemeClr val="tx1"/>
                </a:solidFill>
              </a:rPr>
              <a:t>Transparent verification process reduces hiring time from days to minutes</a:t>
            </a:r>
          </a:p>
          <a:p>
            <a:pPr marL="114300" indent="0">
              <a:buNone/>
            </a:pPr>
            <a:r>
              <a:rPr lang="en-US" b="1" dirty="0">
                <a:solidFill>
                  <a:schemeClr val="tx1"/>
                </a:solidFill>
              </a:rPr>
              <a:t>Reduced Fraud</a:t>
            </a:r>
          </a:p>
          <a:p>
            <a:r>
              <a:rPr lang="en-US" dirty="0">
                <a:solidFill>
                  <a:schemeClr val="tx1"/>
                </a:solidFill>
              </a:rPr>
              <a:t>Verified credentials eliminate fake experience claims and credential manipulation</a:t>
            </a:r>
          </a:p>
          <a:p>
            <a:pPr marL="114300" indent="0">
              <a:buNone/>
            </a:pPr>
            <a:r>
              <a:rPr lang="en-US" b="1" dirty="0">
                <a:solidFill>
                  <a:schemeClr val="tx1"/>
                </a:solidFill>
              </a:rPr>
              <a:t>Worker Visibility</a:t>
            </a:r>
          </a:p>
          <a:p>
            <a:r>
              <a:rPr lang="en-US" dirty="0">
                <a:solidFill>
                  <a:schemeClr val="tx1"/>
                </a:solidFill>
              </a:rPr>
              <a:t>Digital profiles give workers professional identity and improved trust with employers</a:t>
            </a:r>
          </a:p>
          <a:p>
            <a:pPr marL="114300" indent="0">
              <a:buNone/>
            </a:pPr>
            <a:r>
              <a:rPr lang="en-US" b="1" dirty="0">
                <a:solidFill>
                  <a:schemeClr val="tx1"/>
                </a:solidFill>
              </a:rPr>
              <a:t>Secure Storage</a:t>
            </a:r>
          </a:p>
          <a:p>
            <a:r>
              <a:rPr lang="en-US" dirty="0">
                <a:solidFill>
                  <a:schemeClr val="tx1"/>
                </a:solidFill>
              </a:rPr>
              <a:t>Cloud-based data ensures safe, accessible records that never get lost</a:t>
            </a:r>
          </a:p>
          <a:p>
            <a:pPr marL="114300" indent="0">
              <a:buNone/>
            </a:pP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C4378304-21CD-EA1A-A158-69D3304AB6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3264" y="1150612"/>
            <a:ext cx="2562300" cy="341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Google Shape;101;p17">
            <a:extLst>
              <a:ext uri="{FF2B5EF4-FFF2-40B4-BE49-F238E27FC236}">
                <a16:creationId xmlns:a16="http://schemas.microsoft.com/office/drawing/2014/main" id="{3377C9A7-227F-5FDC-463A-31A3A201BC9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0000" y="158997"/>
            <a:ext cx="1377425" cy="61967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76;p15" descr="Your startup LOGO">
            <a:extLst>
              <a:ext uri="{FF2B5EF4-FFF2-40B4-BE49-F238E27FC236}">
                <a16:creationId xmlns:a16="http://schemas.microsoft.com/office/drawing/2014/main" id="{B480829E-5A6F-6885-E2D2-3ABCA0D79A53}"/>
              </a:ext>
            </a:extLst>
          </p:cNvPr>
          <p:cNvSpPr/>
          <p:nvPr/>
        </p:nvSpPr>
        <p:spPr>
          <a:xfrm>
            <a:off x="233350" y="274112"/>
            <a:ext cx="1191326" cy="619675"/>
          </a:xfrm>
          <a:prstGeom prst="ellipse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Synapase</a:t>
            </a: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119;p19">
            <a:extLst>
              <a:ext uri="{FF2B5EF4-FFF2-40B4-BE49-F238E27FC236}">
                <a16:creationId xmlns:a16="http://schemas.microsoft.com/office/drawing/2014/main" id="{AD8C1BC2-E89B-8BA6-9064-AC1607783704}"/>
              </a:ext>
            </a:extLst>
          </p:cNvPr>
          <p:cNvSpPr/>
          <p:nvPr/>
        </p:nvSpPr>
        <p:spPr>
          <a:xfrm>
            <a:off x="0" y="4766072"/>
            <a:ext cx="9143999" cy="377429"/>
          </a:xfrm>
          <a:prstGeom prst="rect">
            <a:avLst/>
          </a:prstGeom>
          <a:gradFill>
            <a:gsLst>
              <a:gs pos="0">
                <a:srgbClr val="8C8C8C"/>
              </a:gs>
              <a:gs pos="100000">
                <a:srgbClr val="404040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dist="23000" dir="5400000" rotWithShape="0">
              <a:srgbClr val="808080">
                <a:alpha val="34901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 b="0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FD464A4-3DD1-A95B-630B-525D9EBEF86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8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8761610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E0368-F01B-35B3-4FB9-46038DB686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2020" y="258689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Future Roadmap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D58B40-992D-0297-73D0-D627C577FD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114300" indent="0">
              <a:buNone/>
            </a:pPr>
            <a:r>
              <a:rPr lang="en-US" b="1" dirty="0">
                <a:solidFill>
                  <a:schemeClr val="tx1"/>
                </a:solidFill>
              </a:rPr>
              <a:t>Aadhaar Integration</a:t>
            </a:r>
          </a:p>
          <a:p>
            <a:r>
              <a:rPr lang="en-US" dirty="0">
                <a:solidFill>
                  <a:schemeClr val="tx1"/>
                </a:solidFill>
              </a:rPr>
              <a:t>Seamless e-KYC through Aadhaar authentication for enhanced security and government recognition</a:t>
            </a:r>
          </a:p>
          <a:p>
            <a:pPr marL="114300" indent="0">
              <a:buNone/>
            </a:pPr>
            <a:r>
              <a:rPr lang="en-US" b="1" dirty="0">
                <a:solidFill>
                  <a:schemeClr val="tx1"/>
                </a:solidFill>
              </a:rPr>
              <a:t>OTP-based Authentication:</a:t>
            </a:r>
            <a:r>
              <a:rPr lang="en-US" dirty="0">
                <a:solidFill>
                  <a:schemeClr val="tx1"/>
                </a:solidFill>
              </a:rPr>
              <a:t> </a:t>
            </a:r>
          </a:p>
          <a:p>
            <a:r>
              <a:rPr lang="en-US" dirty="0">
                <a:solidFill>
                  <a:schemeClr val="tx1"/>
                </a:solidFill>
              </a:rPr>
              <a:t>Secure, </a:t>
            </a:r>
            <a:r>
              <a:rPr lang="en-US" dirty="0" err="1">
                <a:solidFill>
                  <a:schemeClr val="tx1"/>
                </a:solidFill>
              </a:rPr>
              <a:t>passwordless</a:t>
            </a:r>
            <a:r>
              <a:rPr lang="en-US" dirty="0">
                <a:solidFill>
                  <a:schemeClr val="tx1"/>
                </a:solidFill>
              </a:rPr>
              <a:t> login system</a:t>
            </a:r>
          </a:p>
          <a:p>
            <a:pPr marL="114300" indent="0">
              <a:buNone/>
            </a:pPr>
            <a:r>
              <a:rPr lang="en-US" b="1" dirty="0">
                <a:solidFill>
                  <a:schemeClr val="tx1"/>
                </a:solidFill>
              </a:rPr>
              <a:t>Multilingual Expansion</a:t>
            </a:r>
          </a:p>
          <a:p>
            <a:r>
              <a:rPr lang="en-US" dirty="0">
                <a:solidFill>
                  <a:schemeClr val="tx1"/>
                </a:solidFill>
              </a:rPr>
              <a:t>Support for regional languages including Hindi, Tamil, Bengali, Telugu, and more</a:t>
            </a:r>
          </a:p>
          <a:p>
            <a:pPr marL="114300" indent="0">
              <a:buNone/>
            </a:pPr>
            <a:r>
              <a:rPr lang="en-US" b="1" dirty="0">
                <a:solidFill>
                  <a:schemeClr val="tx1"/>
                </a:solidFill>
              </a:rPr>
              <a:t>MSME &amp; Gig Economy</a:t>
            </a:r>
          </a:p>
          <a:p>
            <a:r>
              <a:rPr lang="en-US" dirty="0">
                <a:solidFill>
                  <a:schemeClr val="tx1"/>
                </a:solidFill>
              </a:rPr>
              <a:t>Platform expansion to serve MSMEs and integrate with India's rapidly growing gig workforce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5" name="Google Shape;101;p17">
            <a:extLst>
              <a:ext uri="{FF2B5EF4-FFF2-40B4-BE49-F238E27FC236}">
                <a16:creationId xmlns:a16="http://schemas.microsoft.com/office/drawing/2014/main" id="{DA9EF38B-40DF-26A8-D4DB-D1E0C955176B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20000" y="158997"/>
            <a:ext cx="1377425" cy="61967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76;p15" descr="Your startup LOGO">
            <a:extLst>
              <a:ext uri="{FF2B5EF4-FFF2-40B4-BE49-F238E27FC236}">
                <a16:creationId xmlns:a16="http://schemas.microsoft.com/office/drawing/2014/main" id="{4BB1BD75-5A41-1D15-B911-F2DAFC377417}"/>
              </a:ext>
            </a:extLst>
          </p:cNvPr>
          <p:cNvSpPr/>
          <p:nvPr/>
        </p:nvSpPr>
        <p:spPr>
          <a:xfrm>
            <a:off x="233350" y="274112"/>
            <a:ext cx="1191326" cy="619675"/>
          </a:xfrm>
          <a:prstGeom prst="ellipse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Synapase</a:t>
            </a: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119;p19">
            <a:extLst>
              <a:ext uri="{FF2B5EF4-FFF2-40B4-BE49-F238E27FC236}">
                <a16:creationId xmlns:a16="http://schemas.microsoft.com/office/drawing/2014/main" id="{7D096356-C873-EB31-F394-EC0A4264E0E7}"/>
              </a:ext>
            </a:extLst>
          </p:cNvPr>
          <p:cNvSpPr/>
          <p:nvPr/>
        </p:nvSpPr>
        <p:spPr>
          <a:xfrm>
            <a:off x="0" y="4766072"/>
            <a:ext cx="9143999" cy="377429"/>
          </a:xfrm>
          <a:prstGeom prst="rect">
            <a:avLst/>
          </a:prstGeom>
          <a:gradFill>
            <a:gsLst>
              <a:gs pos="0">
                <a:srgbClr val="8C8C8C"/>
              </a:gs>
              <a:gs pos="100000">
                <a:srgbClr val="404040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dist="23000" dir="5400000" rotWithShape="0">
              <a:srgbClr val="808080">
                <a:alpha val="34901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 b="0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775E8E7-2E30-2B80-9CF5-9936D03AE88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9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703706791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962</TotalTime>
  <Words>492</Words>
  <Application>Microsoft Office PowerPoint</Application>
  <PresentationFormat>On-screen Show (16:9)</PresentationFormat>
  <Paragraphs>112</Paragraphs>
  <Slides>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Oswald</vt:lpstr>
      <vt:lpstr>Times New Roman</vt:lpstr>
      <vt:lpstr>Calibri</vt:lpstr>
      <vt:lpstr>Arial</vt:lpstr>
      <vt:lpstr>Merriweather</vt:lpstr>
      <vt:lpstr>Simple Light</vt:lpstr>
      <vt:lpstr>Digital Skill Passport Empowering India's Blue-Collar  Workforce  Team Synapse | HackX 2025    </vt:lpstr>
      <vt:lpstr>Digital Skill Passport Empowering Blue-Collar Workers  with Verified Digital Identity </vt:lpstr>
      <vt:lpstr>Project Overview </vt:lpstr>
      <vt:lpstr>The Problem We're Solving </vt:lpstr>
      <vt:lpstr>Our Solution </vt:lpstr>
      <vt:lpstr>How It Works </vt:lpstr>
      <vt:lpstr>PowerPoint Presentation</vt:lpstr>
      <vt:lpstr>Impact &amp; Results </vt:lpstr>
      <vt:lpstr>Future Roadmap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Kaushal Mistry</dc:creator>
  <cp:lastModifiedBy>Kaushal Mistry</cp:lastModifiedBy>
  <cp:revision>7</cp:revision>
  <dcterms:modified xsi:type="dcterms:W3CDTF">2025-11-01T21:11:28Z</dcterms:modified>
</cp:coreProperties>
</file>